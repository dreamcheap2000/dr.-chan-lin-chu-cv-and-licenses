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D3557"/>
                </a:solidFill>
              </a:defRPr>
            </a:pPr>
            <a:r>
              <a:t>Hospital Stay Factors: Critical Statistical Appraisal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55A64"/>
                </a:solidFill>
              </a:defRPr>
            </a:pPr>
            <a:r>
              <a:t>Dataset: 個案34.xlsx (N=4,046 complete cases)</a:t>
            </a:r>
            <a:br/>
            <a:r>
              <a:t>Descriptive + Between-group + Within-group + Stepwise model selection</a:t>
            </a:r>
            <a:br/>
            <a:r>
              <a:t>Prepared in professional biostatistical reporting format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D"/>
                </a:solidFill>
              </a:defRPr>
            </a:pPr>
            <a:r>
              <a:t>1) Objective &amp; Appraisal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Primary objective: identify independent factors associated with longer length of stay (LOS).</a:t>
            </a:r>
          </a:p>
          <a:p>
            <a:pPr>
              <a:defRPr sz="1900"/>
            </a:pPr>
            <a:r>
              <a:t>Critical appraisal dimensions:</a:t>
            </a:r>
          </a:p>
          <a:p>
            <a:pPr>
              <a:defRPr sz="1900"/>
            </a:pPr>
          </a:p>
          <a:p>
            <a:pPr lvl="1">
              <a:defRPr sz="1500"/>
            </a:pPr>
            <a:r>
              <a:t>Data quality and distributional properties</a:t>
            </a:r>
          </a:p>
          <a:p>
            <a:pPr lvl="1">
              <a:defRPr sz="1500"/>
            </a:pPr>
            <a:r>
              <a:t>Unadjusted between-group contrasts (ADR event vs no ADR event)</a:t>
            </a:r>
          </a:p>
          <a:p>
            <a:pPr lvl="1">
              <a:defRPr sz="1500"/>
            </a:pPr>
            <a:r>
              <a:t>Within-group vs between-cluster decomposition</a:t>
            </a:r>
          </a:p>
          <a:p>
            <a:pPr lvl="1">
              <a:defRPr sz="1500"/>
            </a:pPr>
            <a:r>
              <a:t>Multivariable model stability and variable-selection behavior</a:t>
            </a:r>
          </a:p>
          <a:p>
            <a:pPr lvl="1">
              <a:defRPr sz="1500"/>
            </a:pPr>
            <a:r>
              <a:t>Clinical interpretability, limitations, and decision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Outcome analyzed: LOS (days), with primary modeling scale log(LOS+1).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D"/>
                </a:solidFill>
              </a:defRPr>
            </a:pPr>
            <a:r>
              <a:t>2) Data Structure &amp; Variable 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Sample size after cleaning: 4,046 admissions (dropped 19 rows with missing physician sex).</a:t>
            </a:r>
          </a:p>
          <a:p>
            <a:pPr>
              <a:defRPr sz="1900"/>
            </a:pPr>
            <a:r>
              <a:t>Outcome: los1 (days), highly right-skewed; transformed as log(LOS+1) for regression.</a:t>
            </a:r>
          </a:p>
          <a:p>
            <a:pPr>
              <a:defRPr sz="1900"/>
            </a:pPr>
            <a:r>
              <a:t>Core predictors: age, sex, dis_count, drugcount, adrdrug, physician age, department, tenure, physician sex, Charlson index.</a:t>
            </a:r>
          </a:p>
          <a:p>
            <a:pPr>
              <a:defRPr sz="1900"/>
            </a:pPr>
            <a:r>
              <a:t>Derived ADR indicators for sensitivity: adr_event=(adrdrug &lt; drugcount), post_adr_drug=(drugcount-adrdrug).</a:t>
            </a:r>
          </a:p>
          <a:p>
            <a:pPr>
              <a:defRPr sz="1900"/>
            </a:pPr>
            <a:r>
              <a:t>Cluster proxy for within/between analysis: round(drage-tenure,3)_drsex, total clusters = 572.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D"/>
                </a:solidFill>
              </a:defRPr>
            </a:pPr>
            <a:r>
              <a:t>3) Descriptive Analysis of 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N=4,046; mean=17.10 d; median=8.0 d; IQR=4.0–19.0 d.</a:t>
            </a:r>
          </a:p>
          <a:p>
            <a:pPr>
              <a:defRPr sz="1900"/>
            </a:pPr>
            <a:r>
              <a:t>P95=58.0 d; max=1911 d.</a:t>
            </a:r>
          </a:p>
          <a:p>
            <a:pPr>
              <a:defRPr sz="1900"/>
            </a:pPr>
            <a:r>
              <a:t>Skewness=30.15; kurtosis=1379.8: heavy right tail and extreme outliers.</a:t>
            </a:r>
          </a:p>
          <a:p>
            <a:pPr>
              <a:defRPr sz="1900"/>
            </a:pPr>
            <a:r>
              <a:t>Implication: raw-scale mean-based inference is fragile; robust/nonparametric tests and log-scale models are preferred.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D"/>
                </a:solidFill>
              </a:defRPr>
            </a:pPr>
            <a:r>
              <a:t>4) Between-Group Analysis: ADR Event vs No ADR Event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No ADR event (n=3,405): mean LOS=13.68, median=7.0 days.</a:t>
            </a:r>
          </a:p>
          <a:p>
            <a:pPr>
              <a:defRPr sz="1900"/>
            </a:pPr>
            <a:r>
              <a:t>ADR event (n=641): mean LOS=35.26, median=19.0 days.</a:t>
            </a:r>
          </a:p>
          <a:p>
            <a:pPr>
              <a:defRPr sz="1900"/>
            </a:pPr>
            <a:r>
              <a:t>Crude difference: +12.0 median days and +21.58 mean days with ADR event.</a:t>
            </a:r>
          </a:p>
          <a:p>
            <a:pPr>
              <a:defRPr sz="1900"/>
            </a:pPr>
            <a:r>
              <a:t>Interpretation: ADR-event admissions have substantially longer stays before covariate adjustment.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D"/>
                </a:solidFill>
              </a:defRPr>
            </a:pPr>
            <a:r>
              <a:t>5) Between-Group Statistical Tests (Unadjusted)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Mann–Whitney U on LOS: U=1,572,654, p=1.28e-70, rank-biserial r=0.441.</a:t>
            </a:r>
          </a:p>
          <a:p>
            <a:pPr>
              <a:defRPr sz="1900"/>
            </a:pPr>
            <a:r>
              <a:t>Welch t-test on log(LOS+1): t=18.41, p=9.35e-64, Cohen d=0.875.</a:t>
            </a:r>
          </a:p>
          <a:p>
            <a:pPr>
              <a:defRPr sz="1900"/>
            </a:pPr>
            <a:r>
              <a:t>Both tests strongly reject equal distributions/means between ADR vs non-ADR groups.</a:t>
            </a:r>
          </a:p>
          <a:p>
            <a:pPr>
              <a:defRPr sz="1900"/>
            </a:pPr>
            <a:r>
              <a:t>Effect magnitude is clinically meaningful (medium-to-large standardized difference).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D"/>
                </a:solidFill>
              </a:defRPr>
            </a:pPr>
            <a:r>
              <a:t>6) Stepwise Factor Selection (Forward AIC, primary covariate set)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Candidate terms: age, sex, dis_count, drugcount, adrdrug, drage, department, tenure, drsex, charlson.</a:t>
            </a:r>
          </a:p>
          <a:p>
            <a:pPr>
              <a:defRPr sz="1900"/>
            </a:pPr>
            <a:r>
              <a:t>Selection path (best AIC at each step):</a:t>
            </a:r>
          </a:p>
          <a:p>
            <a:pPr lvl="1">
              <a:defRPr sz="1500"/>
            </a:pPr>
            <a:r>
              <a:t>Step 1: + drugcount  | AIC=7556.3, adj.R²=0.551</a:t>
            </a:r>
          </a:p>
          <a:p>
            <a:pPr lvl="1">
              <a:defRPr sz="1500"/>
            </a:pPr>
            <a:r>
              <a:t>Step 2: + dis_count  | AIC=7274.8, adj.R²=0.581</a:t>
            </a:r>
          </a:p>
          <a:p>
            <a:pPr lvl="1">
              <a:defRPr sz="1500"/>
            </a:pPr>
            <a:r>
              <a:t>Step 3: + C(dep)  | AIC=7136.2, adj.R²=0.596</a:t>
            </a:r>
          </a:p>
          <a:p>
            <a:pPr lvl="1">
              <a:defRPr sz="1500"/>
            </a:pPr>
            <a:r>
              <a:t>Step 4: + charlson  | AIC=7123.2, adj.R²=0.597</a:t>
            </a:r>
          </a:p>
          <a:p>
            <a:pPr lvl="1">
              <a:defRPr sz="1500"/>
            </a:pPr>
            <a:r>
              <a:t>Step 5: + age  | AIC=7121.5, adj.R²=0.597</a:t>
            </a:r>
          </a:p>
          <a:p>
            <a:pPr lvl="1">
              <a:defRPr sz="1500"/>
            </a:pPr>
            <a:r>
              <a:t>Step 6: + adrdrug  | AIC=7121.4, adj.R²=0.597</a:t>
            </a:r>
          </a:p>
          <a:p>
            <a:pPr>
              <a:defRPr sz="1900"/>
            </a:pPr>
            <a:r>
              <a:t>Final full-model benchmark (all candidates): AIC=7126.5, adj.R²=0.597.</a:t>
            </a:r>
          </a:p>
          <a:p>
            <a:pPr>
              <a:defRPr sz="1900"/>
            </a:pPr>
            <a:r>
              <a:t>Appraisal: selection favors disease burden/process terms early; demographic/physician terms are weaker contributors.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Stepwise methods are heuristic and can be unstable under collinearity; inferential conclusions rely on final adjusted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D"/>
                </a:solidFill>
              </a:defRPr>
            </a:pPr>
            <a:r>
              <a:t>7) Primary Adjusted Model (log LOS) — Critical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Model fit: R²=0.599, adj.R²=0.597, AIC=7126.5.</a:t>
            </a:r>
          </a:p>
          <a:p>
            <a:pPr>
              <a:defRPr sz="1900"/>
            </a:pPr>
            <a:r>
              <a:t>dis_count: β=0.124, p=9.40e-21 (strong positive).</a:t>
            </a:r>
          </a:p>
          <a:p>
            <a:pPr>
              <a:defRPr sz="1900"/>
            </a:pPr>
            <a:r>
              <a:t>drugcount: β=0.019, p=4.26e-44 (strong positive).</a:t>
            </a:r>
          </a:p>
          <a:p>
            <a:pPr>
              <a:defRPr sz="1900"/>
            </a:pPr>
            <a:r>
              <a:t>adrdrug: β=-0.001, p=0.464 (non-significant as continuous proxy).</a:t>
            </a:r>
          </a:p>
          <a:p>
            <a:pPr>
              <a:defRPr sz="1900"/>
            </a:pPr>
            <a:r>
              <a:t>Department effects remain directionally important relative to internal medicine reference.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D"/>
                </a:solidFill>
              </a:defRPr>
            </a:pPr>
            <a:r>
              <a:t>8) Sensitivity ADR Re-coding (Event + Post-ADR Burden)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adr_event: β=0.397, SE=0.040, p=1.47e-23</a:t>
            </a:r>
          </a:p>
          <a:p>
            <a:pPr>
              <a:defRPr sz="1900"/>
            </a:pPr>
            <a:r>
              <a:t>Approximate multiplicative LOS impact: exp(β)-1 = 48.8%.</a:t>
            </a:r>
          </a:p>
          <a:p>
            <a:pPr>
              <a:defRPr sz="1900"/>
            </a:pPr>
            <a:r>
              <a:t>post_adr_drug: β=-0.0057, p=4.48e-04.</a:t>
            </a:r>
          </a:p>
          <a:p>
            <a:pPr>
              <a:defRPr sz="1900"/>
            </a:pPr>
            <a:r>
              <a:t>Critical interpretation: event coding captures ADR occurrence signal more clearly than raw adrdrug count.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D"/>
                </a:solidFill>
              </a:defRPr>
            </a:pPr>
            <a:r>
              <a:t>9) Within-Group vs Between-Cluster Effects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Model: log(LOS+1) ~ adr_between + adr_within + covariates (HC3 robust SE).</a:t>
            </a:r>
          </a:p>
          <a:p>
            <a:pPr>
              <a:defRPr sz="1900"/>
            </a:pPr>
            <a:r>
              <a:t>Between-cluster ADR prevalence effect: β=0.407, p=1.71e-10.</a:t>
            </a:r>
          </a:p>
          <a:p>
            <a:pPr>
              <a:defRPr sz="1900"/>
            </a:pPr>
            <a:r>
              <a:t>Within-cluster ADR event effect: β=0.238, p=8.07e-14.</a:t>
            </a:r>
          </a:p>
          <a:p>
            <a:pPr>
              <a:defRPr sz="1900"/>
            </a:pPr>
            <a:r>
              <a:t>Interpretation on LOS scale: between ≈ 50.2%, within ≈ 26.9% increase.</a:t>
            </a:r>
          </a:p>
          <a:p>
            <a:pPr>
              <a:defRPr sz="1900"/>
            </a:pPr>
            <a:r>
              <a:t>Both contextual (between) and individual-level (within) ADR components are statistically significant.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D"/>
                </a:solidFill>
              </a:defRPr>
            </a:pPr>
            <a:r>
              <a:t>10) Critical Appraisal of Methodological Strengths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Large sample size with near-complete covariate information improves precision.</a:t>
            </a:r>
          </a:p>
          <a:p>
            <a:pPr>
              <a:defRPr sz="1900"/>
            </a:pPr>
            <a:r>
              <a:t>Triangulation across descriptive, nonparametric, transformed linear, and decomposition models strengthens robustness.</a:t>
            </a:r>
          </a:p>
          <a:p>
            <a:pPr>
              <a:defRPr sz="1900"/>
            </a:pPr>
            <a:r>
              <a:t>HC3 robust standard errors reduce sensitivity to heteroscedasticity.</a:t>
            </a:r>
          </a:p>
          <a:p>
            <a:pPr>
              <a:defRPr sz="1900"/>
            </a:pPr>
            <a:r>
              <a:t>Explicit sensitivity analyses address ADR-variable coding ambiguity and reveal latent event effect.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D"/>
                </a:solidFill>
              </a:defRPr>
            </a:pPr>
            <a:r>
              <a:t>11) Critical Appraisal of Weaknesses /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Observational design: associations are not equivalent to causal effects.</a:t>
            </a:r>
          </a:p>
          <a:p>
            <a:pPr>
              <a:defRPr sz="1900"/>
            </a:pPr>
            <a:r>
              <a:t>ADR timing/severity granularity is limited; potential reverse causality remains.</a:t>
            </a:r>
          </a:p>
          <a:p>
            <a:pPr>
              <a:defRPr sz="1900"/>
            </a:pPr>
            <a:r>
              <a:t>Collinearity among burden/process metrics may dilute individual coefficient stability.</a:t>
            </a:r>
          </a:p>
          <a:p>
            <a:pPr>
              <a:defRPr sz="1900"/>
            </a:pPr>
            <a:r>
              <a:t>Physician cluster is a proxy (not verified ID), so cluster-level inference is sensitivity-level evidence.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D"/>
                </a:solidFill>
              </a:defRPr>
            </a:pPr>
            <a:r>
              <a:t>12) Professional Statistical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Core LOS drivers are comorbidity burden (dis_count), medication complexity (drugcount), and department context.</a:t>
            </a:r>
          </a:p>
          <a:p>
            <a:pPr>
              <a:defRPr sz="1900"/>
            </a:pPr>
            <a:r>
              <a:t>ADR-event status is a strong independent marker of longer stay when encoded as event occurrence.</a:t>
            </a:r>
          </a:p>
          <a:p>
            <a:pPr>
              <a:defRPr sz="1900"/>
            </a:pPr>
            <a:r>
              <a:t>Significant within-group and between-cluster ADR effects suggest both patient-level and contextual process contributions.</a:t>
            </a:r>
          </a:p>
          <a:p>
            <a:pPr>
              <a:defRPr sz="1900"/>
            </a:pPr>
            <a:r>
              <a:t>For operational planning: prioritize ADR prevention/early management, medication review, and high-risk pathway optimization.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D"/>
                </a:solidFill>
              </a:defRPr>
            </a:pPr>
            <a:r>
              <a:t>13) Recommended Next Analytic Upgrades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t>Use true physician ID and ward/unit ID for hierarchical mixed models.</a:t>
            </a:r>
          </a:p>
          <a:p>
            <a:pPr>
              <a:defRPr sz="1900"/>
            </a:pPr>
            <a:r>
              <a:t>Add ADR onset date, severity (e.g., CTCAE), and type to support time-to-event or joint models.</a:t>
            </a:r>
          </a:p>
          <a:p>
            <a:pPr>
              <a:defRPr sz="1900"/>
            </a:pPr>
            <a:r>
              <a:t>Validate model transportability with temporal and external-site split validation.</a:t>
            </a:r>
          </a:p>
          <a:p>
            <a:pPr>
              <a:defRPr sz="1900"/>
            </a:pPr>
            <a:r>
              <a:t>Consider causal frameworks (target trial emulation / IPTW / doubly robust estimation) for policy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6464"/>
                </a:solidFill>
              </a:defRPr>
            </a:pPr>
            <a:r>
              <a:t>All statistics in this deck are reproducibly computed from 個案34.xlsx in the project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